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0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59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4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calories burned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DB-564D-BDFD-F8DC1DFB9F0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DB-564D-BDFD-F8DC1DFB9F0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9DB-564D-BDFD-F8DC1DFB9F0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9DB-564D-BDFD-F8DC1DFB9F0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9DB-564D-BDFD-F8DC1DFB9F03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DB-564D-BDFD-F8DC1DFB9F0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Session Duration</c:v>
                </c:pt>
                <c:pt idx="1">
                  <c:v>Experience Level</c:v>
                </c:pt>
                <c:pt idx="2">
                  <c:v>Workout Frequency</c:v>
                </c:pt>
                <c:pt idx="3">
                  <c:v>Avg Heart Rate</c:v>
                </c:pt>
                <c:pt idx="4">
                  <c:v>Water Intake</c:v>
                </c:pt>
                <c:pt idx="5">
                  <c:v>Fat Percentage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</c:v>
                </c:pt>
                <c:pt idx="1">
                  <c:v>0.69</c:v>
                </c:pt>
                <c:pt idx="2">
                  <c:v>0.57999999999999996</c:v>
                </c:pt>
                <c:pt idx="3">
                  <c:v>0.34</c:v>
                </c:pt>
                <c:pt idx="4">
                  <c:v>0.36</c:v>
                </c:pt>
                <c:pt idx="5">
                  <c:v>-0.6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9DB-564D-BDFD-F8DC1DFB9F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64748B"/>
                </a:solidFill>
                <a:latin typeface="Arial"/>
              </a:rPr>
              <a:t>R²  (higher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Neural Network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0.98</c:v>
                </c:pt>
                <c:pt idx="1">
                  <c:v>0.93899999999999995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6-3F42-9FE1-D4E3B133B7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27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563EB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F59E0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381•  </a:t>
            </a:r>
            <a:r>
              <a:rPr lang="en-US" sz="1300" b="1" kern="0" spc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Calories Burned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Workouts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58368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really drives energy expenditure in the </a:t>
            </a:r>
            <a:r>
              <a:rPr lang="en-US" sz="1800" i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and </a:t>
            </a: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predict it?</a:t>
            </a:r>
            <a:endParaRPr lang="en-US" sz="1800" dirty="0"/>
          </a:p>
        </p:txBody>
      </p:sp>
      <p:sp>
        <p:nvSpPr>
          <p:cNvPr id="101" name="GlassTile101"/>
          <p:cNvSpPr/>
          <p:nvPr/>
        </p:nvSpPr>
        <p:spPr>
          <a:xfrm>
            <a:off x="558800" y="5054600"/>
            <a:ext cx="2768600" cy="1219200"/>
          </a:xfrm>
          <a:prstGeom prst="roundRect">
            <a:avLst>
              <a:gd name="adj" fmla="val 14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6000"/>
              </a:srgbClr>
            </a:solidFill>
          </a:ln>
          <a:effectLst>
            <a:outerShdw blurRad="1900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2" name="GlassTile102"/>
          <p:cNvSpPr/>
          <p:nvPr/>
        </p:nvSpPr>
        <p:spPr>
          <a:xfrm>
            <a:off x="3302000" y="5054600"/>
            <a:ext cx="2768600" cy="1219200"/>
          </a:xfrm>
          <a:prstGeom prst="roundRect">
            <a:avLst>
              <a:gd name="adj" fmla="val 14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6000"/>
              </a:srgbClr>
            </a:solidFill>
          </a:ln>
          <a:effectLst>
            <a:outerShdw blurRad="1900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3" name="GlassTile103"/>
          <p:cNvSpPr/>
          <p:nvPr/>
        </p:nvSpPr>
        <p:spPr>
          <a:xfrm>
            <a:off x="6045200" y="5054600"/>
            <a:ext cx="2768600" cy="1219200"/>
          </a:xfrm>
          <a:prstGeom prst="roundRect">
            <a:avLst>
              <a:gd name="adj" fmla="val 14000"/>
            </a:avLst>
          </a:prstGeom>
          <a:solidFill>
            <a:srgbClr val="FFFFFF">
              <a:alpha val="9000"/>
            </a:srgbClr>
          </a:solidFill>
          <a:ln w="9525">
            <a:solidFill>
              <a:srgbClr val="FFFFFF">
                <a:alpha val="26000"/>
              </a:srgbClr>
            </a:solidFill>
          </a:ln>
          <a:effectLst>
            <a:outerShdw blurRad="1900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58368" y="5212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973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58368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members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01568" y="5212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401568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44768" y="5212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144768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</a:t>
            </a:r>
            <a:endParaRPr lang="en-US" sz="1300" dirty="0"/>
          </a:p>
        </p:txBody>
      </p:sp>
      <p:sp>
        <p:nvSpPr>
          <p:cNvPr id="120" name="TeamCredit"/>
          <p:cNvSpPr/>
          <p:nvPr/>
        </p:nvSpPr>
        <p:spPr>
          <a:xfrm>
            <a:off x="660400" y="6400800"/>
            <a:ext cx="10668000" cy="355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GB" sz="1300" b="1" spc="120" dirty="0">
                <a:solidFill>
                  <a:srgbClr val="F59E0B"/>
                </a:solidFill>
              </a:rPr>
              <a:t>PROJECT TEAM</a:t>
            </a:r>
            <a:r>
              <a:rPr lang="en-GB" sz="1400" spc="60" dirty="0">
                <a:solidFill>
                  <a:srgbClr val="94A3B8"/>
                </a:solidFill>
              </a:rPr>
              <a:t>    </a:t>
            </a:r>
            <a:r>
              <a:rPr lang="en-GB" sz="1500" b="1" dirty="0">
                <a:solidFill>
                  <a:srgbClr val="F8FAFC"/>
                </a:solidFill>
              </a:rPr>
              <a:t>Yuvraj Singh Goraya</a:t>
            </a:r>
            <a:r>
              <a:rPr lang="en-GB" sz="1500" dirty="0">
                <a:solidFill>
                  <a:srgbClr val="64748B"/>
                </a:solidFill>
              </a:rPr>
              <a:t>   ·   </a:t>
            </a:r>
            <a:r>
              <a:rPr lang="en-GB" sz="1500" b="1" dirty="0">
                <a:solidFill>
                  <a:srgbClr val="F8FAFC"/>
                </a:solidFill>
              </a:rPr>
              <a:t>Navpreet Singh</a:t>
            </a:r>
          </a:p>
        </p:txBody>
      </p:sp>
    </p:spTree>
    <p:extLst>
      <p:ext uri="{BB962C8B-B14F-4D97-AF65-F5344CB8AC3E}">
        <p14:creationId xmlns:p14="http://schemas.microsoft.com/office/powerpoint/2010/main" val="15874040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calories burned?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 that matters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burned links directly to weight management, </a:t>
            </a:r>
            <a:r>
              <a:rPr lang="en-US" sz="14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health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training efficiency.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1688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81728" y="214884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data-rich industry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81728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</a:t>
            </a:r>
            <a:r>
              <a:rPr lang="en-US" sz="14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gyms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fitness apps collect huge volumes of workout data every day.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3296" y="182880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03336" y="2148840"/>
            <a:ext cx="777240" cy="77724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3317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3336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research problem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03336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factors most influence calorie </a:t>
            </a:r>
            <a:r>
              <a:rPr lang="en-US" sz="14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and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predict it from routine workout metrics?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  </a:t>
            </a:r>
            <a:r>
              <a:rPr lang="en-US" sz="14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physiological and behavioural factors most strongly predict </a:t>
            </a:r>
            <a:r>
              <a:rPr lang="en-US" sz="1450" i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burned </a:t>
            </a:r>
            <a:r>
              <a:rPr lang="en-US" sz="14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can calorie burn be modelled accurately from routinely measured metrics?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7657324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 • 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Members Exercise Dataset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2423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on Kaggle. A cross-sectional snapshot </a:t>
            </a:r>
            <a:r>
              <a:rPr lang="en-US" sz="14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members </a:t>
            </a:r>
            <a:r>
              <a:rPr lang="en-US" sz="14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workout sessions, covering demographics, body metrics, </a:t>
            </a:r>
            <a:r>
              <a:rPr lang="en-US" sz="14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heart-rate measures </a:t>
            </a:r>
            <a:r>
              <a:rPr lang="en-US" sz="14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training behaviour.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94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973 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2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6634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4617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2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53212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5486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2400" dirty="0"/>
          </a:p>
        </p:txBody>
      </p:sp>
      <p:sp>
        <p:nvSpPr>
          <p:cNvPr id="14" name="Shape 8"/>
          <p:cNvSpPr/>
          <p:nvPr/>
        </p:nvSpPr>
        <p:spPr>
          <a:xfrm>
            <a:off x="6309360" y="18288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variables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675120" y="26700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90372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Calories_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Burned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calories per session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675120" y="318211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6903720" y="31181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_Duration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of workout (hours)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675120" y="369417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903720" y="3630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heart rate (intensity)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675120" y="420624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903720" y="4142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Workout_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per week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675120" y="471830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903720" y="4654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Experience_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advanced (1–3)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675120" y="5230368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903720" y="5166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Fat_Percentage /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body-composition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6675120" y="5742432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903720" y="56784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Workout_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</a:t>
            </a:r>
            <a:r>
              <a:rPr lang="en-US" sz="1350" b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35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Strength, Cardio, Yoga, HIIT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9849527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 • 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pandas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cleaning and manipulating the data in Jupyter Notebook.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2240280"/>
            <a:ext cx="914400" cy="91440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468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+ Seaborn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3524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visualisation: distributions, correlations, comparisons.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0120" y="4297680"/>
            <a:ext cx="914400" cy="91440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5262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4709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Encoding, scaling, train/test split, modelling and evaluation.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72200" y="38862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92240" y="4297680"/>
            <a:ext cx="914400" cy="91440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5262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35240" y="4709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R², RMSE and MAE measured on a held-out 20% test set.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models compared:  </a:t>
            </a: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(simple, interpretable baseline)  vs.  a Neural Network (flexible, captures non-linear patterns).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79143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EXPLORATION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do members burn?</a:t>
            </a:r>
            <a:endParaRPr lang="en-US" sz="3000" dirty="0"/>
          </a:p>
        </p:txBody>
      </p:sp>
      <p:pic>
        <p:nvPicPr>
          <p:cNvPr id="5" name="Image 0" descr="/home/claude/assets/dist_calor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6583680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9659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3317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3920" y="21305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~905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8503920" y="2624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calories / session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589520" y="33375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703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3502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 – 1,783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8503920" y="3995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range observed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589520" y="47091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50749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03920" y="4873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~273</a:t>
            </a:r>
            <a:endParaRPr lang="en-US" sz="2300" dirty="0"/>
          </a:p>
        </p:txBody>
      </p:sp>
      <p:sp>
        <p:nvSpPr>
          <p:cNvPr id="17" name="Text 11"/>
          <p:cNvSpPr/>
          <p:nvPr/>
        </p:nvSpPr>
        <p:spPr>
          <a:xfrm>
            <a:off x="8503920" y="5367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913705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KEY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calorie burn?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14884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0956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909560" y="3246120"/>
            <a:ext cx="3429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duration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Dominates: r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0.91, by far the strongest driver.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&amp; frequency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next: heart rate, experience, training days.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percentage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negative: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leaner members burn more per session.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046540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THE CORE SIGNAL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 vs calories: a near-linear link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818120" y="2103120"/>
            <a:ext cx="3703320" cy="36576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3774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clearest pattern in the data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13816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sessions translate almost directly into more </a:t>
            </a:r>
            <a:r>
              <a:rPr lang="en-US" sz="14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calories burned </a:t>
            </a: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pattern holds across all four workout types.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3816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0.91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00CC26-9AB5-CA2A-6CA6-FA530A75E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3" y="2040145"/>
            <a:ext cx="6353411" cy="353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467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A SURPRISE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workout type matter?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818120" y="2103120"/>
            <a:ext cx="370332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3774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matters less than you’d think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138160" y="3657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calories burned are broadly similar across Strength, Cardio, Yoga and HIIT.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and how hard you train matters far more than which activity you choose.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9CB80B-37E3-826B-F2A4-4346F8B6D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51881"/>
            <a:ext cx="6588884" cy="366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727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MODELLING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wins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0" y="246888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3796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11312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84664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3063240"/>
            <a:ext cx="51206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11312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884664" y="3063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0.939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0" y="3630168"/>
            <a:ext cx="512064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36301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11312" y="36301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884664" y="36301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71.7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0" y="4197096"/>
            <a:ext cx="51206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41970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11312" y="41970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884664" y="41970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0" y="49834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193792"/>
            <a:ext cx="502920" cy="5029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269480" y="4983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~98% of variation — average error only ~30–41 calories.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322864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 •  WHAT THE MODEL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matter most?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818120" y="2103120"/>
            <a:ext cx="3703320" cy="36576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3774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Confirms the story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138160" y="33832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duration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by far the largest coefficient.
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heart rate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second, 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make smaller adjustments.
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so, all 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are directly comparable.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7B83AA-28F7-7B2B-AA88-492BC1D4F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53840"/>
            <a:ext cx="6753120" cy="36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886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583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7824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all means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423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duration is the #1 driver of calories burned.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264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Intensity (heart rate) &amp; frequency come next.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3308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1056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type matters surprisingly little.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7433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9469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linear model predicts burn at R² </a:t>
            </a:r>
            <a:r>
              <a:rPr lang="en-US" sz="150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0.98 </a:t>
            </a: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beating the neural network.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309360" y="18288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293B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0312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2376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8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88036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13232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&amp; trainers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7132320" y="32004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training duration and intensity over switching workout types.</a:t>
            </a:r>
            <a:endParaRPr lang="en-US" sz="13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97764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323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&amp; wearables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7132320" y="42976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linear model is enough for accurate calorie estimates.</a:t>
            </a:r>
            <a:endParaRPr lang="en-US" sz="13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074920"/>
            <a:ext cx="365760" cy="3657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design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7132320" y="53949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consistent frequency and progressive session length.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0764187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F59E0B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1828800"/>
            <a:ext cx="5029200" cy="502920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031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1546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longer, </a:t>
            </a:r>
            <a:r>
              <a:rPr lang="en-US" sz="1800" i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harder, </a:t>
            </a:r>
            <a:r>
              <a:rPr lang="en-US" sz="18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clear.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Calories Burned During Workouts  </a:t>
            </a:r>
            <a:r>
              <a:rPr lang="en-US" sz="1200" kern="0" spc="1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 381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577112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97B9A8-9428-A74B-8C5F-9A00314C5B6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db8a63b-e5da-4568-bd1b-76753240e8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707</Words>
  <Application>Microsoft Macintosh PowerPoint</Application>
  <PresentationFormat>Widescreen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Calories Burned During Workouts</dc:title>
  <dc:subject>PptxGenJS Presentation</dc:subject>
  <dc:creator>Team Project</dc:creator>
  <cp:lastModifiedBy>Yuvraj.Goraya</cp:lastModifiedBy>
  <cp:revision>8</cp:revision>
  <dcterms:created xsi:type="dcterms:W3CDTF">2026-06-14T08:11:35Z</dcterms:created>
  <dcterms:modified xsi:type="dcterms:W3CDTF">2026-06-18T08:30:28Z</dcterms:modified>
</cp:coreProperties>
</file>